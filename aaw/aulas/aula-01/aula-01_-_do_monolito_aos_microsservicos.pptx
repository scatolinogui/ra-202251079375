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57" r:id="rId4"/>
    <p:sldId id="271" r:id="rId5"/>
    <p:sldId id="270" r:id="rId6"/>
    <p:sldId id="273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82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Abertura. Apresentar-se, dar visão geral da disciplina no semestre e anunciar o tema. NÃO explicar conceitos ainda: o cenário-problema vem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27FF-0734-5ADE-334F-0F733B9F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051D8-9A0A-E0D2-4DA8-A54F25EC9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5ED31-5763-91D1-E611-54454BC5C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Abertura. Apresentar-se, dar visão geral da disciplina no semestre e anunciar o tema. NÃO explicar conceitos ainda: o cenário-problema vem no próximo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B3E6F-89AF-6C0D-5C92-F00FD2230B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6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15 min — Cenário-problema. 2 min escrita individual de hipóteses, 3 min em duplas, 5 min compartilhamento (anotar hipóteses no quadro — elas serão retomadas). Poll de mãos: quem já ouviu falar de microsserviços? NÃO responder à pergunta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FF28-67D6-82A3-29BA-05AE9091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9862D-9687-90CC-3834-D1CE0A7D8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53413-3A26-74BD-F34A-6A3885B5A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15 min — Cenário-problema. 2 min escrita individual de hipóteses, 3 min em duplas, 5 min compartilhamento (anotar hipóteses no quadro — elas serão retomadas). Poll de mãos: quem já ouviu falar de microsserviços? NÃO responder à pergunta ainda.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4D703-EDCE-080D-A1B0-88FDD2A4E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42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8CEF-80E8-8C28-9EC9-A15D2BCF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2A959-A529-C7A9-A16D-6A6FFA85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D8F47-FA85-DB04-0921-232713654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Abertura. Apresentar-se, dar visão geral da disciplina no semestre e anunciar o tema. NÃO explicar conceitos ainda: o cenário-problema vem no próximo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E0997-45B4-6B99-C161-29268946C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3250-DF64-E8AA-F169-9E28CD5A8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C3F65-2C5E-C127-84BA-B49D8C12B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16E01-2B0E-EEDB-C862-0D7907A8B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15 min — Cenário-problema. 2 min escrita individual de hipóteses, 3 min em duplas, 5 min compartilhamento (anotar hipóteses no quadro — elas serão retomadas). Poll de mãos: quem já ouviu falar de microsserviços? NÃO responder à pergunta ainda.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5E1E8-F76A-D1C6-F436-0B37636A1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81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3B76-FCE7-05AB-4D25-511230B7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C5986-F746-CF46-EEC8-F8DD53BAA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9421A-51E7-F601-A0C2-6E4C038FD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15 min — Cenário-problema. 2 min escrita individual de hipóteses, 3 min em duplas, 5 min compartilhamento (anotar hipóteses no quadro — elas serão retomadas). Poll de mãos: quem já ouviu falar de microsserviços? NÃO responder à pergunta ainda.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D19EA-0B41-3006-286B-6F2F8219B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09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Formalizar o monólito. Conectar com o cenário: 'no MercadoLivro do handout, o que acontecia no deploy?'. Enfatizar que monólito NÃO é sinônimo de código ruim — é um estilo com forças reais (simplicidade, ACID, latência zero).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Retomar o cenário da Black Friday: 'e se Boletos fosse um serviço separado?'. Perguntar às duplas que escolheram microsserviços no BancoAzul por quê. Destacar o isolamento de falhas E a escala independente.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Comparação estruturada. Construir com a turma: para cada linha, perguntar quem viu esse fator em algum cenário do handout. Reforçar: as 3 últimas linhas de cada coluna são os CUSTOS de cada estilo.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O slide mais importante da aula. Revelar que o Cenário 4 do handout (StreamFlix) é o caso REAL do Prime Video. Perguntar quem recomendou monólito lá e por quê. Mensagem: microsserviços não são bala de prata; distribuição tem preço técnico E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Fechar a teoria com a tabela de decisão. Voltar aos 4 cenários do handout e validar coletivamente cada um pelos fatores. Apresentar o Monolith First como síntese pragmática.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Verificação de compreensão antes da prática. Levantamento de mãos ou Mentimeter. Esperar ~30 seg por pergunta antes de discutir. Gabarito: 1) monólito — time pequeno + domínio em descoberta; 2) falso — custo de rede/orquestração (Prime Video); 3) latência de rede, consistência eventual, observabilidade, pipelines múltiplos.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(início da prática) — Projetar e deixar visível. Alunos criam o projeto com dotnet new webapi e colam este controller. Próximo slide tem o PedidosController com a dependência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Mostrar o ANTES/DEPOIS. Destacar: a linha do HttpClient é onde nasce a arquitetura distribuída — e também onde nascem os problemas de rede. Conferir a porta no launchSettings.json (erro mais comum).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75 min — Prática em duplas. Circular como tech lead: perguntas de direcionamento, sem entregar solução. Dupla travada no passo 2: fornecer o controller movido e focar no passo 3. Guardar 10 min finais para o bônus — ele é o gancho da aula de resiliência (Aula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10 min (dentro do encerramento) — Consolidação: conectar a prática aos conceitos da manhã. Pedir que 3 duplas mostrem o fluxo no Postman antes deste slide. Depois: exit ticket individual (2 perguntas) e reflexão 1-2-3.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Fechamento. Recolher exit tickets na saída. Anunciar a próxima aula amarrando com a prática: o HttpClient de hoje vira REST na Aula 02. Lembrar da leitura prévia (Referencias.docx no ambiente virtual).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Thalles Noce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Aplicações Web — Aula 01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Newton/Wyden — 2026.2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B82B4-3061-1B8F-BEFA-F79C69F8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D942C9-7CCC-3FEE-B0D4-AEC90BBB181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E7F6CA-4104-353F-1C94-99EFC758FB71}"/>
              </a:ext>
            </a:extLst>
          </p:cNvPr>
          <p:cNvSpPr/>
          <p:nvPr/>
        </p:nvSpPr>
        <p:spPr>
          <a:xfrm>
            <a:off x="731520" y="9144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Monólito aos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0C2717-FFFA-6F66-9164-4BFBD8967C65}"/>
              </a:ext>
            </a:extLst>
          </p:cNvPr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9D11B2-8D89-107C-920B-C6944C6D9C67}"/>
              </a:ext>
            </a:extLst>
          </p:cNvPr>
          <p:cNvSpPr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Características, trade-offs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7AE2C7-18DF-09D8-BC4D-10E10A545B82}"/>
              </a:ext>
            </a:extLst>
          </p:cNvPr>
          <p:cNvSpPr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Aplicações Web — Aula 01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Newton/Wyden — 2026.2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59944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1357625"/>
            <a:ext cx="8138160" cy="3031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pt-BR" sz="1600" dirty="0"/>
              <a:t>- Analisar as características das arquiteturas monolítica e de microsserviços, identificando vantagens e limitações de cada modelo.</a:t>
            </a:r>
            <a:endParaRPr lang="en-US" sz="1600" dirty="0"/>
          </a:p>
          <a:p>
            <a:pPr lvl="0"/>
            <a:endParaRPr lang="pt-BR" sz="1600" dirty="0"/>
          </a:p>
          <a:p>
            <a:pPr lvl="0"/>
            <a:r>
              <a:rPr lang="pt-BR" sz="1600" dirty="0"/>
              <a:t>- Avaliar cenários reais de negócio e justificar a escolha arquitetural mais adequada com base em trade-</a:t>
            </a:r>
            <a:r>
              <a:rPr lang="pt-BR" sz="1600" dirty="0" err="1"/>
              <a:t>offs</a:t>
            </a:r>
            <a:r>
              <a:rPr lang="pt-BR" sz="1600" dirty="0"/>
              <a:t> (equipe, custo, escalabilidade, complexidade operacional).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211F7-F55D-DB1E-3D73-E1C929CA0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3E82E4-6132-9954-51DA-92725A92CE1B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383B22-D168-0B74-301E-2076E9FC998E}"/>
              </a:ext>
            </a:extLst>
          </p:cNvPr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Programático da Disciplina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04FE82-7269-7C01-A280-A5327200F39F}"/>
              </a:ext>
            </a:extLst>
          </p:cNvPr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723719-EA7E-740E-DE1C-B09A5BE51C8E}"/>
              </a:ext>
            </a:extLst>
          </p:cNvPr>
          <p:cNvSpPr/>
          <p:nvPr/>
        </p:nvSpPr>
        <p:spPr>
          <a:xfrm>
            <a:off x="548640" y="1357625"/>
            <a:ext cx="8138160" cy="3031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600" dirty="0"/>
              <a:t>- Arquitetura de Aplicações Web [Teoria]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- Persistência de Dados [Teoria]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- Implementação [Prática]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- Segurança e Cloud [Teoria e Prática]</a:t>
            </a:r>
          </a:p>
          <a:p>
            <a:pPr>
              <a:spcBef>
                <a:spcPts val="1200"/>
              </a:spcBef>
            </a:pPr>
            <a:r>
              <a:rPr lang="pt-BR" sz="1600" dirty="0"/>
              <a:t>- Teste e Qualidade [Teoria e Prática]</a:t>
            </a:r>
          </a:p>
        </p:txBody>
      </p:sp>
    </p:spTree>
    <p:extLst>
      <p:ext uri="{BB962C8B-B14F-4D97-AF65-F5344CB8AC3E}">
        <p14:creationId xmlns:p14="http://schemas.microsoft.com/office/powerpoint/2010/main" val="290239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59D95-6157-4A10-571E-3721518E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F0CA0F-6F8E-4585-8479-72DE4BDEC69F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EA38BE-84BF-A706-FAE3-BB8C6092D213}"/>
              </a:ext>
            </a:extLst>
          </p:cNvPr>
          <p:cNvSpPr/>
          <p:nvPr/>
        </p:nvSpPr>
        <p:spPr>
          <a:xfrm>
            <a:off x="731520" y="9144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2A081D-5D9F-4440-93DD-D370E507D233}"/>
              </a:ext>
            </a:extLst>
          </p:cNvPr>
          <p:cNvSpPr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2C2953-B549-C8A1-1B04-5191D59712F9}"/>
              </a:ext>
            </a:extLst>
          </p:cNvPr>
          <p:cNvSpPr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Aplicações Web — Aula 01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Newton/Wyden — 2026.2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44037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71519-219F-4143-7C3A-6581A483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6EAA54-9514-F7B8-42D2-7B25283A727C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F765FD-3F1B-6815-798C-4796FF95E594}"/>
              </a:ext>
            </a:extLst>
          </p:cNvPr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Friday, 20h: o site inteiro caiu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E77FAC-F70A-4D4F-5D83-09D9860685A3}"/>
              </a:ext>
            </a:extLst>
          </p:cNvPr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644B5E-61D8-5915-EBBC-CBD026CAD1D4}"/>
              </a:ext>
            </a:extLst>
          </p:cNvPr>
          <p:cNvSpPr/>
          <p:nvPr/>
        </p:nvSpPr>
        <p:spPr>
          <a:xfrm>
            <a:off x="548640" y="13716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AD794F-8224-9A15-B678-EE07FFA9D5DD}"/>
              </a:ext>
            </a:extLst>
          </p:cNvPr>
          <p:cNvSpPr/>
          <p:nvPr/>
        </p:nvSpPr>
        <p:spPr>
          <a:xfrm>
            <a:off x="54864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e-commerce fora do ar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5F71EC-A78A-D39C-E777-D18A14EABC2A}"/>
              </a:ext>
            </a:extLst>
          </p:cNvPr>
          <p:cNvSpPr/>
          <p:nvPr/>
        </p:nvSpPr>
        <p:spPr>
          <a:xfrm>
            <a:off x="548640" y="32004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módulo</a:t>
            </a:r>
            <a:endParaRPr lang="en-US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00B5D3-9431-956E-304A-6F3B4296A4E4}"/>
              </a:ext>
            </a:extLst>
          </p:cNvPr>
          <p:cNvSpPr/>
          <p:nvPr/>
        </p:nvSpPr>
        <p:spPr>
          <a:xfrm>
            <a:off x="54864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(emissão de boletos) causou tudo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036014-C854-9F88-44D2-1039A9768D92}"/>
              </a:ext>
            </a:extLst>
          </p:cNvPr>
          <p:cNvSpPr/>
          <p:nvPr/>
        </p:nvSpPr>
        <p:spPr>
          <a:xfrm>
            <a:off x="3749040" y="1463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de boletos travou por excesso de requisições…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 catálogo, carrinho, Pix e cartão pararam JUNTO.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que não tinham nada a ver com boletos morreram.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9D5A43-C6BC-163C-7533-8677CDED0FE5}"/>
              </a:ext>
            </a:extLst>
          </p:cNvPr>
          <p:cNvSpPr/>
          <p:nvPr/>
        </p:nvSpPr>
        <p:spPr>
          <a:xfrm>
            <a:off x="3749040" y="3474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um único módulo derruba um sistema inteiro?”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238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0C294-ED4B-36C7-17B9-B6E0E11F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715799-2971-5AAA-B85B-B59FBDE74D94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99DD1D-EDC9-3F82-F951-B0A0B0C7E3BA}"/>
              </a:ext>
            </a:extLst>
          </p:cNvPr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A9ACDA-DB3B-A1A3-8958-12EC03D55A0E}"/>
              </a:ext>
            </a:extLst>
          </p:cNvPr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12E862-0C71-752F-9F3D-75BA41668661}"/>
              </a:ext>
            </a:extLst>
          </p:cNvPr>
          <p:cNvSpPr/>
          <p:nvPr/>
        </p:nvSpPr>
        <p:spPr>
          <a:xfrm>
            <a:off x="548640" y="146304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pt-BR" sz="1600" b="1" dirty="0"/>
              <a:t>Cliente: </a:t>
            </a:r>
            <a:r>
              <a:rPr lang="pt-BR" sz="1600" dirty="0"/>
              <a:t> Interface e Interação - Renderizar o HTML/CSS, capturar cliques do utilizador e validar dados básicos (</a:t>
            </a:r>
            <a:r>
              <a:rPr lang="pt-BR" sz="1600" dirty="0" err="1"/>
              <a:t>ex</a:t>
            </a:r>
            <a:r>
              <a:rPr lang="pt-BR" sz="1600" dirty="0"/>
              <a:t>: campo vazio).</a:t>
            </a:r>
          </a:p>
          <a:p>
            <a:pPr lvl="0">
              <a:spcBef>
                <a:spcPts val="1200"/>
              </a:spcBef>
            </a:pPr>
            <a:endParaRPr lang="pt-BR" sz="1600" dirty="0"/>
          </a:p>
          <a:p>
            <a:pPr lvl="0">
              <a:spcBef>
                <a:spcPts val="1200"/>
              </a:spcBef>
            </a:pPr>
            <a:r>
              <a:rPr lang="pt-BR" sz="1600" b="1" dirty="0"/>
              <a:t>Servidor:</a:t>
            </a:r>
            <a:r>
              <a:rPr lang="pt-BR" sz="1600" dirty="0"/>
              <a:t>  Lógica e Persistência - Processar regras de negócio, consultar a base de dados e garantir a segurança dos dados.</a:t>
            </a:r>
          </a:p>
        </p:txBody>
      </p:sp>
    </p:spTree>
    <p:extLst>
      <p:ext uri="{BB962C8B-B14F-4D97-AF65-F5344CB8AC3E}">
        <p14:creationId xmlns:p14="http://schemas.microsoft.com/office/powerpoint/2010/main" val="321361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Monolítica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317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— UM deploy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164592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965960"/>
            <a:ext cx="164592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4320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164592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743200"/>
            <a:ext cx="1645920" cy="594360"/>
          </a:xfrm>
          <a:prstGeom prst="rect">
            <a:avLst/>
          </a:prstGeom>
          <a:solidFill>
            <a:srgbClr val="E8EE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65960" y="3657600"/>
            <a:ext cx="1371600" cy="6858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965960" y="3657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banco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base de código, um processo, um deploy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conversam por chamada de função (rápido!)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de dados com transações ACID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= replicar a aplicação INTEIRA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módulo derruba o processo, cai tudo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Microsserviços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743200"/>
            <a:ext cx="1097280" cy="5486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43000" y="2743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2468880"/>
            <a:ext cx="0" cy="27432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10896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10896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2743200"/>
            <a:ext cx="1097280" cy="54864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468880"/>
            <a:ext cx="0" cy="27432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57784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7784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2743200"/>
            <a:ext cx="1097280" cy="54864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080760" y="2743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2468880"/>
            <a:ext cx="0" cy="27432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743200" y="20116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212080" y="20116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74320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mensagens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pequenos e independentes, um por domínio de negócio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tem SEU banco (database per service) e SEU deploy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pela rede: HTTP/REST, filas, eventos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Boletos cair, Catálogo e Pagamentos continuam no ar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× Microsserviços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4904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simples: 1 artefato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zero entre módulos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ACID no banco único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debugar e testar local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tudo junto (caro em picos)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grande esbarra no mesmo código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749040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independente por serviço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isolada — o resto sobrevive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só o que precisa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autônomos por domínio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entre serviços: latência e falhas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eventual, operação complexa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da distribuição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de custo quando o Prime Video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voltou o serviço de monitoramento para um monólito (2023)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49040" y="13716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de função (ns) vira chamada de REDE (ms) — que falha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 única vira consistência eventual entre serviços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log vira rastreamento distribuído (observabilidade — Aula 12)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deploy vira dezenas de pipelines: exige maturidade DevOps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e tráfego entre serviços têm CUSTO em R$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o quê? Critérios de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85292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Monólito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Microsserviços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Pequena (1 pizza dá pra todos)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 times autônomos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em descoberta (MVP/startup)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conhecido e estável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Uniforme e previsível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com demandas muito diferentes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 automação/experiência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e monitoramento maduros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Tolerável reiniciar tudo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 exigido (ex.: regulação)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“Monolith First” (Fowler): comece simples, extraia serviços quando a dor aparecer.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startup de 3 devs precisa lançar um MVP em 2 meses. Que arquitetura você recomenda — e qual é o principal motivo?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“Microsserviços são sempre mais escaláveis e mais baratos.” Verdadeiro ou falso? Defenda.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38328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DOIS custos novos que aparecem quando um monólito vira serviços distribuídos.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 — o monólito de partida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3566160"/>
          </a:xfrm>
          <a:prstGeom prst="roundRect">
            <a:avLst>
              <a:gd name="adj" fmla="val 1538"/>
            </a:avLst>
          </a:prstGeom>
          <a:solidFill>
            <a:srgbClr val="1629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589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LojaMonolito — dotnet new webapi -n LojaMonolito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Controllers/ProdutosController.cs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[ApiController]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[Route("api/[controller]")]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ProdutosController : ControllerBase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readonly List&lt;Produto&gt; Produtos = new()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new(1, "Clean Architecture", 89.90m, 12),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new(2, "Domain-Driven Design", 120.00m, 5) };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[HttpGet("{id}")]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ActionResult&lt;Produto&gt; GetById(int id) =&gt;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Produtos.FirstOrDefault(p =&gt; p.Id == id) is Produto p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? Ok(p) : NotFound();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Produto(int Id, string Nome, decimal Preco, int Estoque);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— e como ela vira HTTP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3566160"/>
          </a:xfrm>
          <a:prstGeom prst="roundRect">
            <a:avLst>
              <a:gd name="adj" fmla="val 1538"/>
            </a:avLst>
          </a:prstGeom>
          <a:solidFill>
            <a:srgbClr val="1629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589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ANTES (monólito): Pedidos chama Produtos por método interno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produto = ProdutosController.Produtos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.FirstOrDefault(p =&gt; p.Id == pedido.ProdutoId);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DEPOIS (extraído): Pedidos chama o ServicoProdutos pela REDE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PedidosController : ControllerBase {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readonly HttpClient _http = new() {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BaseAddress = new Uri("http://localhost:5101") // ServicoProdutos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[HttpPost]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Task&lt;ActionResult&gt; Criar(Pedido pedido) {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resp = await _http.GetAsync($"api/produtos/{pedido.ProdutoId}");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(!resp.IsSuccessStatusCode)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BadRequest("Produto não encontrado (ou serviço fora?)");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Created($"api/pedidos/{pedido.Id}", pedido);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Operação Resgate (em duplas)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017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LojaMonolito (dotnet new webapi) e colar os 2 controllers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a dependência Pedidos → Produtos e desenhar o diagrama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ServicoProdutos (2ª API, porta 5101) e mover o ProdutosController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a chamada interna por HttpClient e testar o fluxo no Postman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Bônus: derrubar o ServicoProdutos e criar um pedido. O que acontece?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Entregável: 2 APIs rodando + requisição de Pedido que chama Produtos via HTTP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acabamos de vivenciar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22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8229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Extraímos um serviço por DOMÍNIO (produtos), não por camada técnica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840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22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840480" cy="8229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custo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chamada interna virou rede: latência, porta errada, serviço fora do 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40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22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840480" cy="8229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poder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ServicoProdutos agora escala e faz deploy sozinho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840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2225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82296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comunicação HTTP improvisada tem um padrão: REST (Aula 02)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arquitetura vencedora — existe arquitetura adequada ao contexto.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Monólito: simplicidade, ACID, latência zero — tudo escala e cai junto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Microsserviços: autonomia e isolamento — ao preço da distribuição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First: extraia serviços quando a dor aparecer (e meça antes)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— fundamentos: formalizando a comunicação que improvisamos hoje</a:t>
            </a:r>
            <a:endParaRPr lang="en-US" sz="15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Estude antes: </a:t>
            </a:r>
            <a:r>
              <a:rPr lang="en-US" sz="1300" dirty="0">
                <a:solidFill>
                  <a:srgbClr val="B8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de HTTP do Roadmap Back-end (ver Aula 01 - Referencias.docx)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2023</Words>
  <Application>Microsoft Office PowerPoint</Application>
  <PresentationFormat>On-screen Show (16:9)</PresentationFormat>
  <Paragraphs>221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 — Do Monólito aos Microsserviços</dc:title>
  <dc:subject>PptxGenJS Presentation</dc:subject>
  <dc:creator>Prof. Thalles Noce</dc:creator>
  <cp:lastModifiedBy>Thalles Noce</cp:lastModifiedBy>
  <cp:revision>5</cp:revision>
  <dcterms:created xsi:type="dcterms:W3CDTF">2026-07-29T23:41:09Z</dcterms:created>
  <dcterms:modified xsi:type="dcterms:W3CDTF">2026-08-06T19:34:03Z</dcterms:modified>
</cp:coreProperties>
</file>