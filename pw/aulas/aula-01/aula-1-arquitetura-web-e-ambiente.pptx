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3833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2 min — Abertura. Apresentar-se, dizer que a disciplina é prática e investigativa: em 20 encontros a turma sai com um site responsivo e uma aplicação React publicados. Não entrar em conteúdo ainda — o próximo slide é a provocação.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Este é o slide da provocação. Projetar DEPOIS da votação de mãos (1 / 5 / 20 / +50), nunca antes. O número 76 é ilustrativo: substitua pelo número real que apareceu na demonstração ao vivo. Anotar no quadro as hipóteses da turma sobre o que são aqueles arquivos e NÃO corrigir nenhuma agora.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6 min — Desenhar este diagrama no quadro EM CAMADAS enquanto explica, em vez de só projetar pronto. Perguntar: 'quem, na ficha, anotou o header Server? Aquele nome era o software rodando nesta caixa da direita.' Enfatizar a assimetria: só o cliente inicia.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6 min — A última linha é a chave da aula: a cascata de requisições. É ela que explica os 76 arquivos do slide 2. Perguntar: 'na rodada 2 da ficha, vocês contaram CSS, JS e imagens — cada um deles passou por estas mesmas 5 etapas.'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6 min — Mostrar que HTTP não é mágica: é texto legível por humanos. Pedir para a turma comparar com o que anotaram na rodada 3 da ficha. Perguntar: 'quem pegou um Content-Type diferente de text/html? O que era o arquivo?'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6 min — Ancorar no experimento da rodada 4 da ficha: 'vocês forçaram um 404. Ele é 4xx, ou seja, a culpa é de quem PEDIU — o endereço não existe. Se fosse 500, a culpa seria do servidor.' Essa distinção 4xx vs 5xx é o que costuma cair em prova.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7 min — Puxar diretamente da rodada 5 da ficha. Pedir a 2 alunos que leiam em voz alta a frase que escreveram sobre o papel do CSS e comparar com a definição do slide. Se alguém notou que menus ainda abriam sem CSS, é a deixa perfeita para o terceiro card (JS).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Não aprofundar: a ideia aqui é plantar a palavra DOM, que volta com força na aula 12. Mencionar que a aba Elements do DevTools mostra o DOM, não o HTML original — e que por isso o que aparece lá pode ser diferente do 'ver código-fonte'.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4 min — Não explicar cada tag: isso é a aula 2. Aqui o objetivo é só que a turma tenha um arquivo válido para versionar. Avisar que o VSCode gera tudo isso digitando '!' e Tab (atalho Emmet) — e que hoje é melhor digitar à mão para ler o que está escrevendo.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Provocar: 'se o código do front-end chega inteiro no navegador do usuário, faz sentido validar a senha lá?' Isso planta segurança sem virar aula de segurança. Deixar claro que a disciplina é front-end, mas a Fase 2 do projeto consome um back-end via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8 min — Respostas: (1) quem pediu — 4xx é erro do cliente, o endereço não existe; (2) poucos, talvez 5 ou 6 — o resto vem em cascata, arquivos que pedem outros arquivos; (3) o conteúdo mora no HTML; o CSS só define a aparência. Esperar de verdade os 30 segundos: o silêncio é o que faz os alunos pensarem.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3 min para apresentar, 75 min de execução — Deixar esta tabela projetada durante toda a prática. Anunciar a regra 'pergunte a dois colegas antes de chamar o professor'. Se o Node.js travar em alguma máquina, seguir adiante: ele só é indispensável a partir da aula 14. O Passo 4 é o que não pode faltar.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dentro da prática — Ditar os comandos, nunca digitar na máquina do aluno. Avisar sobre os 3 erros clássicos: autenticação por senha (usar token pessoal ou GitHub Desktop), 'Author identity unknown' (falta o git config) e main × master no push. Reforçar a regra do commit incremental: é aqui que ela é anunciada pela primeira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3 min — Fechar com a frase da próxima aula: 'hoje vocês viram o navegador PEDIR um HTML; na próxima, vocês escrevem esse HTML.' Recolher os exit tickets ANTES deste slide. Anotar quem ficou com ambiente pendente para atender nos 10 primeiros minutos da aula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 ·  AULA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das</a:t>
            </a:r>
            <a:endParaRPr lang="en-US" sz="4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Web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2286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clique ao pixel: HTTP, cliente-servidor e o ambiente de desenvolvimento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Universitário Newton Paiva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· SI · CC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 HOJE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arquivos o navegador baixou?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108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de rede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exibir UMA página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portal de notícias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77640" y="155448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digitou UM endereço. O navegador fez dezenas de pedidos.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clicou nesses arquivos — então quem pediu por eles?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Alguns vieram de outros domínios, que você nem digitou.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isso aconteceu em menos de 2 segundos.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38862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próximos 40 minutos, vocês descobrem isso sozinhos — no próprio navegador.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FUNDAMENTAL DA WEB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 servidor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0440" y="1938528"/>
            <a:ext cx="2103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520440" y="193852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126480" y="17373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E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 entrega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E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arquivos do site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 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63240" y="1965960"/>
            <a:ext cx="301752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 flipH="1">
            <a:off x="3063240" y="2788920"/>
            <a:ext cx="3017520" cy="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01752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⬅  RESPONSE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SEMPRE começa a conversa. O servidor nunca liga primeiro — ele só responde a quem pergunta.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ETAPAS EM MILISSEGUNDOS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quando você aperta Enter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51424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086307" y="1764792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86307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15142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" y="2651760"/>
            <a:ext cx="138623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digita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endereço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62886" y="23545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181758" y="1600200"/>
            <a:ext cx="151424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719426" y="1764792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719426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81758" y="2286000"/>
            <a:ext cx="15142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45766" y="2651760"/>
            <a:ext cx="138623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vira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IP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96005" y="23545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814877" y="1600200"/>
            <a:ext cx="151424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352544" y="1764792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35254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14877" y="2286000"/>
            <a:ext cx="15142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78885" y="2651760"/>
            <a:ext cx="138623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+ TLS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 "s" do https)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29123" y="23545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47995" y="1600200"/>
            <a:ext cx="151424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5985662" y="1764792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98566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7995" y="2286000"/>
            <a:ext cx="15142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12003" y="2651760"/>
            <a:ext cx="138623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/index.html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HTTP/1.1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62242" y="2354580"/>
            <a:ext cx="118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081114" y="1600200"/>
            <a:ext cx="151424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7618781" y="1764792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618781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81114" y="2286000"/>
            <a:ext cx="15142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45122" y="2651760"/>
            <a:ext cx="138623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 HTML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aí o navegador descobre que precisa de mais 75 arquivos — e repete as etapas 4 e 5 para cada um deles.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do HTTP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texto puro. Dá para ler.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86200" cy="329184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1399032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 pedido — request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355701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/index.html HTTP/1.1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www.newtonpaiva.br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User-Agent: Mozilla/5.0 ...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text/html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Accept-Language: pt-BR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(sem corpo — GET só pede)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886200" cy="329184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873752" y="1399032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resposta — response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73752" y="1691640"/>
            <a:ext cx="355701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text/html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Content-Length: 48213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Server: nginx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 ...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VOCABULÁRIO DO HTTP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e status codes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— o que o cliente quer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3840480" cy="153619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 um recurso (o normal ao navegar)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 dados (formulário, login)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Substituir um recurso existente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Remover um recurso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 — o que o servidor responde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691640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754880" y="1691640"/>
            <a:ext cx="68580" cy="56692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937760" y="16916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2xx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577840" y="16916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certo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452360" y="16916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350008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754880" y="2350008"/>
            <a:ext cx="68580" cy="56692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4937760" y="235000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3xx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577840" y="23500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Mudou de lugar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452360" y="235000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301 Moved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3008376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4754880" y="3008376"/>
            <a:ext cx="68580" cy="56692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4937760" y="300837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4xx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577840" y="300837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quem pediu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452360" y="300837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Not Found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3666744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4754880" y="3666744"/>
            <a:ext cx="68580" cy="5669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4937760" y="366674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5xx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577840" y="366674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quem respondeu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452360" y="366674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Server Error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 O QUÊ NA PÁGINA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tecnologias, três papéis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560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560320" cy="6400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6184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85800" y="23957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 significado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807208"/>
            <a:ext cx="223113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conteúdo e o que</a:t>
            </a:r>
            <a:endParaRPr lang="en-US" sz="115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parte É:</a:t>
            </a:r>
            <a:endParaRPr lang="en-US" sz="115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título, parágrafo,</a:t>
            </a:r>
            <a:endParaRPr lang="en-US" sz="115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lista, formulário.</a:t>
            </a:r>
            <a:endParaRPr lang="en-US" sz="1150" dirty="0"/>
          </a:p>
          <a:p>
            <a:pPr marL="0" indent="0" algn="ctr">
              <a:spcAft>
                <a:spcPts val="500"/>
              </a:spcAft>
              <a:buNone/>
            </a:pPr>
            <a:endParaRPr lang="en-US" sz="115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2 e 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560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560320" cy="6400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291840" y="16184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429000" y="23957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56432" y="2807208"/>
            <a:ext cx="223113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conteúdo</a:t>
            </a:r>
            <a:endParaRPr lang="en-US" sz="115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APARECE:</a:t>
            </a:r>
            <a:endParaRPr lang="en-US" sz="115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cores, tipografia,</a:t>
            </a:r>
            <a:endParaRPr lang="en-US" sz="115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espaço, layout.</a:t>
            </a:r>
            <a:endParaRPr lang="en-US" sz="1150" dirty="0"/>
          </a:p>
          <a:p>
            <a:pPr marL="0" indent="0" algn="ctr">
              <a:spcAft>
                <a:spcPts val="500"/>
              </a:spcAft>
              <a:buNone/>
            </a:pPr>
            <a:endParaRPr lang="en-US" sz="115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4 a 9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560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035040" y="1417320"/>
            <a:ext cx="2560320" cy="640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035040" y="16184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172200" y="23957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99632" y="2807208"/>
            <a:ext cx="2231136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página FAZ:</a:t>
            </a:r>
            <a:endParaRPr lang="en-US" sz="115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cliques,</a:t>
            </a:r>
            <a:endParaRPr lang="en-US" sz="115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a tela,</a:t>
            </a:r>
            <a:endParaRPr lang="en-US" sz="115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dados.</a:t>
            </a:r>
            <a:endParaRPr lang="en-US" sz="1150" dirty="0"/>
          </a:p>
          <a:p>
            <a:pPr marL="0" indent="0" algn="ctr">
              <a:spcAft>
                <a:spcPts val="500"/>
              </a:spcAft>
              <a:buNone/>
            </a:pPr>
            <a:endParaRPr lang="en-US" sz="1150" dirty="0"/>
          </a:p>
          <a:p>
            <a:pPr marL="0" indent="0" algn="ctr">
              <a:spcAft>
                <a:spcPts val="5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11 a 19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experimento do CSS desligado: o texto continuou lá. Conteúdo mora no HTML — o CSS só o veste.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TEXTO RECEBIDO AO PIXEL PINTADO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navegador monta a tela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477670" cy="1051560"/>
          </a:xfrm>
          <a:prstGeom prst="roundRect">
            <a:avLst>
              <a:gd name="adj" fmla="val 5217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993392"/>
            <a:ext cx="1477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2359152"/>
            <a:ext cx="13496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recebido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44598" y="235458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190902" y="1828800"/>
            <a:ext cx="1477670" cy="1051560"/>
          </a:xfrm>
          <a:prstGeom prst="roundRect">
            <a:avLst>
              <a:gd name="adj" fmla="val 5217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190902" y="1993392"/>
            <a:ext cx="1477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54910" y="2359152"/>
            <a:ext cx="13496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objetos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86861" y="235458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833165" y="1828800"/>
            <a:ext cx="1477670" cy="1051560"/>
          </a:xfrm>
          <a:prstGeom prst="roundRect">
            <a:avLst>
              <a:gd name="adj" fmla="val 5217"/>
            </a:avLst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833165" y="1993392"/>
            <a:ext cx="1477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CSSOM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97173" y="2359152"/>
            <a:ext cx="13496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aplicados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29123" y="235458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475427" y="1828800"/>
            <a:ext cx="1477670" cy="1051560"/>
          </a:xfrm>
          <a:prstGeom prst="roundRect">
            <a:avLst>
              <a:gd name="adj" fmla="val 5217"/>
            </a:avLst>
          </a:prstGeom>
          <a:solidFill>
            <a:srgbClr val="8E44A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475427" y="1993392"/>
            <a:ext cx="1477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tree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539435" y="2359152"/>
            <a:ext cx="13496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visível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71386" y="235458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117690" y="1828800"/>
            <a:ext cx="1477670" cy="1051560"/>
          </a:xfrm>
          <a:prstGeom prst="roundRect">
            <a:avLst>
              <a:gd name="adj" fmla="val 5217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117690" y="1993392"/>
            <a:ext cx="1477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81698" y="2359152"/>
            <a:ext cx="13496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e pintura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3200400"/>
            <a:ext cx="8010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JavaScript entra aqui: ele pode alterar o DOM depois que a página já está na tela — é isso que torna uma página um aplicativo.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926080" y="3886200"/>
            <a:ext cx="3291840" cy="50292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2926080" y="3886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= a página como objetos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que vocês vão criar hoje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a estrutura mínima de uma página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324612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1399032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7717536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name="viewport" content="width=device-width, initial-scale=1.0"&gt;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&lt;title&gt;Projeto de Programação Web&lt;/title&gt;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&lt;/head&gt;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&lt;h1&gt;Meu projeto do semestre&lt;/h1&gt;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&lt;p&gt;Aqui começa o site que vou construir nas próximas 9 aulas.&lt;/p&gt;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CÓDIGO RODA MUDA TUDO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e back-end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840480" cy="5029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— roda no navegador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840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e JavaScript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chega ao usuário: ele pode ler tudo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aqui é segredo (nunca guarde senha no front)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foco desta disciplina, do início ao fim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840480" cy="5029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— roda no servidor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3840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92040" y="2029968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Java, C#, PHP, Python...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dados, valida regras, autentica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só vê a resposta, não o código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consumir um back-end via API (aulas 13 e 17)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estático = arquivos prontos no servidor.   Site dinâmico = o servidor monta a resposta na hora.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PERGUNTAS, MÃOS LEVANTADAS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Mini-quiz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49808" y="1673352"/>
            <a:ext cx="420624" cy="420624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49808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respondeu 404. Quem errou: o navegador ou o servidor?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49808" y="2587752"/>
            <a:ext cx="420624" cy="420624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49808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42316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pediu 76 arquivos. Quantos desses pedidos o desenvolvedor escreveu à mão?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" y="3502152"/>
            <a:ext cx="420624" cy="420624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49808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desligar o CSS, o texto continuou na tela. O que isso prova sobre onde o conteúdo mora?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30 segundos em silêncio antes de discutir cada resposta.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3 E 4 — 75 MINUTOS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Prática: ambiente pronto e primeiro commit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146034"/>
              </p:ext>
            </p:extLst>
          </p:nvPr>
        </p:nvGraphicFramePr>
        <p:xfrm>
          <a:off x="548640" y="1417320"/>
          <a:ext cx="8046720" cy="292608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Pronto quando...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VSCode + extensões Live Server e Prettier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duas extensões aparecem instaladas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LTS instalado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-v e npm -v imprimem versões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configurado + conta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config --list mostra nome e e-mail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Repositório projeto-progweb com index.html e README.md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arquivos aparecem na página do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a própria página no Live Server e inspecionar no DevTools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 encontra a SUA página na aba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445541"/>
            <a:ext cx="804672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40080" y="442803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hoje: a URL do seu repositório no GitHub, com no mínimo 2 commits. É o endereço único do projeto por todo o semestre.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os comandos de hoje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 ao código publicado no GitHub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846320" cy="324612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1399032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uma vez por máquina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4517136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"Seu Nome"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"seu@email.com"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--list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 a cada avanço do projeto: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"cria estrutura inicial da pagina"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0" y="1325880"/>
            <a:ext cx="2926080" cy="3246120"/>
          </a:xfrm>
          <a:prstGeom prst="rect">
            <a:avLst/>
          </a:prstGeom>
          <a:solidFill>
            <a:srgbClr val="22335A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85216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0" y="18745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histórico de commits é parte da avaliação do projeto.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commit gigante na véspera da entrega não atende ao requisito — mesmo que o site funcione.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9B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Hábito: um commit ao fim de cada aula prática.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de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64592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é uma conversa: o cliente pede, o servidor responde — e nunca o contrário.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página são dezenas de requisições em cascata, não um arquivo só.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estrutura, CSS apresenta, JavaScript dá comportamento.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ambiente está pronto e seu projeto já existe no GitHub.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8046720" cy="566928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semântico — você escreve o HTML que o navegador pediu hoje.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estudar em casa</a:t>
            </a:r>
            <a:endParaRPr lang="en-US" sz="1150" dirty="0"/>
          </a:p>
          <a:p>
            <a:pPr marL="0" indent="0">
              <a:buNone/>
            </a:pPr>
            <a:r>
              <a:rPr lang="en-US" sz="12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developer.mozilla.org/pt-BR/docs/Web  ·  git-scm.com/doc  ·  nodejs.org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2068</Words>
  <Application>Microsoft Office PowerPoint</Application>
  <PresentationFormat>On-screen Show (16:9)</PresentationFormat>
  <Paragraphs>257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Arquitetura das Aplicações Web</dc:title>
  <dc:subject>Programação Web — Aula 1</dc:subject>
  <dc:creator>Professor — Programação Web</dc:creator>
  <cp:lastModifiedBy>Thalles Noce</cp:lastModifiedBy>
  <cp:revision>2</cp:revision>
  <dcterms:created xsi:type="dcterms:W3CDTF">2026-07-29T21:16:33Z</dcterms:created>
  <dcterms:modified xsi:type="dcterms:W3CDTF">2026-08-06T23:52:22Z</dcterms:modified>
</cp:coreProperties>
</file>